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a" id="{0abe605f-865d-43e5-f9d9-25c0b88adca4}">
          <p14:sldIdLst>
            <p14:sldId id="256"/>
          </p14:sldIdLst>
        </p14:section>
        <p14:section name="Propuesta" id="{08890626-f57a-0a37-2868-713976d3e83b}">
          <p14:sldIdLst>
            <p14:sldId id="257"/>
            <p14:sldId id="258"/>
          </p14:sldIdLst>
        </p14:section>
        <p14:section name="Proceso" id="{35875a67-0c78-a64f-587a-198f98074b0d}">
          <p14:sldIdLst>
            <p14:sldId id="259"/>
            <p14:sldId id="260"/>
            <p14:sldId id="261"/>
          </p14:sldIdLst>
        </p14:section>
        <p14:section name="Cierre" id="{0bd698bc-9f79-7fe3-aedb-be5ad0838707}">
          <p14:sldIdLst>
            <p14:sldId id="262"/>
          </p14:sldIdLst>
        </p14:section>
        <p14:section name="Anexo" id="{6a064631-eeb9-1072-cb39-a4c73224effc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1
Son las diez de la mañana. Actualizamos el CRM y una cadena de locales deja de guardar clientes. Una clínica tampoco puede trabajar. Logística empieza a llamar a soporte. ¿Cómo puede pasar todo junto? Porque es un SaaS multi-tenant: un servicio en la nube donde cientos de empresas comparten aplicación e infraestructura, aunque tienen datos y configuraciones propias. Nuestro desafío es entregar mejoras rápido y detectar una falla antes de extenderla a todos.
[Respirar y cambiar de diapositiva al terminar.]
Persona 1. Fuente: Lineamientos UTN FRC, pp. 2–5; AWS Tenant Isolation. La escena es hipotética.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2
Proponemos un despliegue canary por grupos de empresas. En Kubernetes mantenemos la versión estable, dos punto siete punto tres, y la candidata, dos punto ocho punto cero, conectadas a PostgreSQL. Un gateway reconoce al tenant desde su sesión autenticada y consulta su versión asignada. Todas sus solicitudes y tareas van a esa versión. Elegimos esta estrategia porque permite probar con empresas reales y limitar la exposición inicial. Como la base sigue compartida, algunos riesgos pueden afectar a todos.
[Respirar y cambiar de diapositiva al terminar.]
Persona 2. Diseño propuesto: asignación persistente por tenant. Frontend, APIs y workers respetan el pool. Se drenan solicitudes y tareas al reasignar. Assets versionados y contratos N/N-1 compatibles. Los tenants nunca se distribuyen por petición al 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3
Desplegar instala el código. Una feature flag permite habilitar una función por empresa. Por ejemplo, instalamos una nueva búsqueda de clientes, inicialmente apagada, y después la activamos para los pilotos. Si falla, podemos apagarla sin reinstalar. Usaríamos Unleash para esas banderas. El aislamiento se controla por separado: verificamos permisos y tenant en cada operación, aplicamos políticas por fila en PostgreSQL y probamos que una empresa no pueda ver información de otra.
[Respirar y cambiar de diapositiva al terminar.]
Persona 3. Fuentes: Unleash Activation strategies; PostgreSQL Row Security Policies; AWS Tenant Isolation. El backend obtiene tenant_id desde identidad validada. RLS aplica a lecturas/escrituras con rol sin BYPASSRLS ni propiedad. Caché, archivos y jobs también se segmentan por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4
Git registra código, configuración y migraciones. GitLab ejecuta pruebas y genera la imagen crm-web dos punto ocho punto cero, fijada por digest, su huella inmutable. Promovemos la misma imagen probada en preproducción. QA valida configuraciones y aislamiento. Seguridad revisa permisos. Operaciones confirma capacidad, dependencias, credenciales y respaldo probado, y la instala con Helm. El responsable de release aprueba producción. Así relacionamos gestión de configuración, colaboración DevOps e integración continua con una entrega continua que conserva aprobación humana.
[Respirar y cambiar de diapositiva al terminar.]
Persona 4. Fuentes: Kubernetes Images y Probes; GitLab Deployment approvals. Detalle del plan: imagen OCI registry.example.com/grupo5/crm-web:2.8.0@sha256:2e1c81aebd805109f23f6e7a97d01d0f2726c78498d7d5bc5abf3a10264ffa2b; anterior 2.7.3@sha256:806212129bc2f343ec6c73c036c9cbfa6f3b1156a55d4c6ab265855cd2ba294e. Identificadores ficticios del ejercicio. Helm instala candidate sin tráfico y con readiness aprobada. Dependencias: PostgreSQL 17, Redis, OIDC y Unleash. Capacidad adicional, conectividad privada, credenciales y backup restaurable son prerrequisitos. Preproducción usa el mismo digest y pruebas de regresión por configuración. Git conserva también chart, SQL y manifest de release; secretos externos. Producción exige aprobación de QA, seguridad, DBA y responsable de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5
Los números y horarios son ejemplos propuestos. Elegimos martes a las veintidós, hora argentina, si el tráfico es menor y hay guardia disponible. Avisamos a clientes y soporte con veinticuatro horas de anticipación. Instalamos la candidata sin tráfico y verificamos que arranque. Después incorporamos el cinco, veinticinco y cien por ciento de empresas, con pilotos de los distintos rubros. Cada etapa requiere quince minutos y suficientes operaciones. También limitamos el tráfico, porque pocas empresas pueden concentrar mucha carga.
[Respirar y cambiar de diapositiva al terminar.]
Persona 5. Propuesta ilustrativa: aviso previo 24 h y guardia confirmada. Cohortes acumuladas de tenants por rubro/configuración con máximo 10% y luego 40% del tráfico histórico. Observación tras cada cambio de código o flag: 15 min, 1.000 solicitudes por cohorte y 20 operaciones críticas por tenant. Si falta muestra, se espera o pospone. Health checks antes de asignar tráfico. La ventana no obliga a completar.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6
Controlamos errores y latencia por versión y por tenant. Avanzamos con menos de uno por ciento de errores y una latencia que no empeore más del veinte por ciento frente a la referencia estable. Además, probamos iniciar sesión, guardar y buscar clientes. Si faltan datos, pausamos. Si un límite se incumple durante cinco minutos, revertimos. Una falla crítica o un acceso entre empresas activa la contingencia inmediatamente. El responsable de release autoriza cada avance y operaciones monitorea.
[Respirar y cambiar de diapositiva al terminar.]
Persona 6. Monitoreo con Prometheus/Grafana y logs con tenant_id/version sin datos personales. Pruebas: login, guardar, editar, buscar, integración por rubro y acceso cruzado rechazado. Referencia: estable simultánea comparable y línea base previa 30 min; al 100% se usa línea base por tenant. Revertir si 5xx ≥1% o p95 supera 1,20 veces referencia durante 5 min. Smoke crítico fallido o violación de aislamiento activan contingencia inmediata. On-call puede revertir sin nueva aprobación.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7
Si la búsqueda rompe el guardado, apagamos la bandera, detenemos el avance y devolvemos los tenants a dos punto siete punto tres. Confirmamos la recuperación y soporte informa. Para permitirlo, primero agregamos cambios compatibles a la base y dejamos las eliminaciones para otra entrega. Volver al código anterior no repara datos dañados: ahí frenamos escrituras y evaluamos una reparación controlada. Como Grupo cinco, proponemos combinar pilotos representativos con límites de tráfico. Así reducimos el alcance de una falla y justificamos cada ampliación con evidencia. Gracias.
[Respirar y cambiar de diapositiva al terminar.]
Persona 7. Fuente: Prisma Expand-and-contract migrations. Migración ilustrativa 028 agrega clients.search_hint nullable conservando clients.name y compatibilidad con 2.7.3. No elimina columnas ni altera semántica de datos en este release. El rollback conserva la expansión de esquema. Se drenan trabajos antes de reasignar a stable y se repiten smoke tests y métricas 15 min. Ante corrupción, bloqueo de escrituras, análisis DBA y reparación o restauración primero en instancia aislada. Restauración global requiere evaluar pérdida de escrituras de todos los tenants y aprobación del incidente/negocio. Soporte avisa éxito, reversión o incidente a clientes y actualiza estado. Stable se conserva 24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UTN FRC
Lineamientos para trabajos de investigación 2026 2C
PDF provisto, TIG 1, pp. 2–5
AWS
SaaS Lens — Tenant Isolation
Aislamiento entre empresas
https://docs.aws.amazon.com/wellarchitected/latest/saas-lens/tenant-isolation.html
Kubernetes
Images
Artefactos fijados por digest
https://kubernetes.io/docs/concepts/containers/images/
Kubernetes
Configure Liveness, Readiness and Startup Probes
Readiness antes de recibir tráfico
https://kubernetes.io/docs/tasks/configure-pod-container/configure-liveness-readiness-startup-probes/
Unleash
Activation strategies
Activación por contexto de tenant
https://docs.getunleash.io/concepts/activation-strategies
GitLab
Deployment approvals
Entornos protegidos y aprobaciones
https://docs.gitlab.com/ci/environments/deployment_approvals/
PostgreSQL 17
Row Security Policies
Políticas por fila y límites del rol propietario
https://www.postgresql.org/docs/17/ddl-rowsecurity.html
Prisma
Expand-and-contract migrations
Cambios de esquema compatibles
https://www.prisma.io/docs/guides/database/data-migration
OpenAI
ChatGPT
IA utilizada para estructurar, redactar y crear los materiales. Revisión final a cargo del grupo.
https://chatgpt.com/
Diseño: ilustraciones generadas con IA (gpt-image vía Figma) e íconos de Font Awesome (react-icons). IA: ChatGPT y Claude como apoyo de redacción y armado de los materiales. Revisión final del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Integrantes del Grupo 5, comisión 4K3. Diapositiva de referencia: no se lee durante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6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31920"/>
            <a:ext cx="5486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06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Grupo 5 · CRM SaaS multi-tenant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PERSONA 1 · EL PROBLEMA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Una actualización, varias empresas frenadas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31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CRM SaaS multi-tenant: cómo entregar rápido sin frenar a todos</a:t>
            </a:r>
            <a:endParaRPr lang="en-US" sz="2000" dirty="0"/>
          </a:p>
        </p:txBody>
      </p:sp>
      <p:sp>
        <p:nvSpPr>
          <p:cNvPr id="5" name="Empresa Cadena de locales"/>
          <p:cNvSpPr/>
          <p:nvPr/>
        </p:nvSpPr>
        <p:spPr>
          <a:xfrm>
            <a:off x="640080" y="4846320"/>
            <a:ext cx="2057400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Alerta Cadena de locales"/>
          <p:cNvSpPr/>
          <p:nvPr/>
        </p:nvSpPr>
        <p:spPr>
          <a:xfrm>
            <a:off x="804672" y="499262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o Cadena de locales"/>
          <p:cNvSpPr txBox="1"/>
          <p:nvPr/>
        </p:nvSpPr>
        <p:spPr>
          <a:xfrm>
            <a:off x="1024128" y="4846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Cadena de locales</a:t>
            </a:r>
            <a:endParaRPr lang="en-US" sz="1300" dirty="0"/>
          </a:p>
        </p:txBody>
      </p:sp>
      <p:sp>
        <p:nvSpPr>
          <p:cNvPr id="8" name="Empresa Clínica"/>
          <p:cNvSpPr/>
          <p:nvPr/>
        </p:nvSpPr>
        <p:spPr>
          <a:xfrm>
            <a:off x="2834640" y="4846320"/>
            <a:ext cx="1234440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Alerta Clínica"/>
          <p:cNvSpPr/>
          <p:nvPr/>
        </p:nvSpPr>
        <p:spPr>
          <a:xfrm>
            <a:off x="2999232" y="499262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o Clínica"/>
          <p:cNvSpPr txBox="1"/>
          <p:nvPr/>
        </p:nvSpPr>
        <p:spPr>
          <a:xfrm>
            <a:off x="3218688" y="48463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Clínica</a:t>
            </a:r>
            <a:endParaRPr lang="en-US" sz="1300" dirty="0"/>
          </a:p>
        </p:txBody>
      </p:sp>
      <p:sp>
        <p:nvSpPr>
          <p:cNvPr id="11" name="Empresa Logística"/>
          <p:cNvSpPr/>
          <p:nvPr/>
        </p:nvSpPr>
        <p:spPr>
          <a:xfrm>
            <a:off x="4206240" y="4846320"/>
            <a:ext cx="1371600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Alerta Logística"/>
          <p:cNvSpPr/>
          <p:nvPr/>
        </p:nvSpPr>
        <p:spPr>
          <a:xfrm>
            <a:off x="4370832" y="499262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o Logística"/>
          <p:cNvSpPr txBox="1"/>
          <p:nvPr/>
        </p:nvSpPr>
        <p:spPr>
          <a:xfrm>
            <a:off x="4590288" y="48463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Logística</a:t>
            </a:r>
            <a:endParaRPr lang="en-US" sz="1300" dirty="0"/>
          </a:p>
        </p:txBody>
      </p:sp>
      <p:sp>
        <p:nvSpPr>
          <p:cNvPr id="14" name="Contexto"/>
          <p:cNvSpPr txBox="1"/>
          <p:nvPr/>
        </p:nvSpPr>
        <p:spPr>
          <a:xfrm>
            <a:off x="64008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UTN FRC · Ingeniería y Calidad de Software · Comisión 4K3 · Grupo 5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PERSONA 2 · ESTRATEGIA CANARY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Una versión por empresa</a:t>
            </a:r>
            <a:endParaRPr lang="en-US" sz="3400" dirty="0"/>
          </a:p>
        </p:txBody>
      </p:sp>
      <p:pic>
        <p:nvPicPr>
          <p:cNvPr id="4" name="Image 0" descr="Gateway que enruta empresas hacia la versión estable o la candi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4846320" cy="4846320"/>
          </a:xfrm>
          <a:prstGeom prst="rect">
            <a:avLst/>
          </a:prstGeom>
        </p:spPr>
      </p:pic>
      <p:sp>
        <p:nvSpPr>
          <p:cNvPr id="5" name="Sesión"/>
          <p:cNvSpPr/>
          <p:nvPr/>
        </p:nvSpPr>
        <p:spPr>
          <a:xfrm>
            <a:off x="5760720" y="1600200"/>
            <a:ext cx="5897880" cy="822960"/>
          </a:xfrm>
          <a:prstGeom prst="roundRect">
            <a:avLst>
              <a:gd name="adj" fmla="val 1555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esión círculo"/>
          <p:cNvSpPr/>
          <p:nvPr/>
        </p:nvSpPr>
        <p:spPr>
          <a:xfrm>
            <a:off x="5961888" y="1755648"/>
            <a:ext cx="512064" cy="51206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Sesión ícono" descr="Ses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025" y="1888785"/>
            <a:ext cx="245791" cy="245791"/>
          </a:xfrm>
          <a:prstGeom prst="rect">
            <a:avLst/>
          </a:prstGeom>
        </p:spPr>
      </p:pic>
      <p:sp>
        <p:nvSpPr>
          <p:cNvPr id="8" name="Sesión título"/>
          <p:cNvSpPr txBox="1"/>
          <p:nvPr/>
        </p:nvSpPr>
        <p:spPr>
          <a:xfrm>
            <a:off x="6675120" y="16916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Sesión autenticada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El gateway identifica al tenant</a:t>
            </a:r>
            <a:endParaRPr lang="en-US" sz="1400" dirty="0"/>
          </a:p>
        </p:txBody>
      </p:sp>
      <p:sp>
        <p:nvSpPr>
          <p:cNvPr id="9" name="Flecha 1"/>
          <p:cNvSpPr/>
          <p:nvPr/>
        </p:nvSpPr>
        <p:spPr>
          <a:xfrm>
            <a:off x="8709660" y="2450592"/>
            <a:ext cx="0" cy="310896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0" name="Gateway"/>
          <p:cNvSpPr/>
          <p:nvPr/>
        </p:nvSpPr>
        <p:spPr>
          <a:xfrm>
            <a:off x="5760720" y="2788920"/>
            <a:ext cx="5897880" cy="822960"/>
          </a:xfrm>
          <a:prstGeom prst="roundRect">
            <a:avLst>
              <a:gd name="adj" fmla="val 1555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Gateway círculo"/>
          <p:cNvSpPr/>
          <p:nvPr/>
        </p:nvSpPr>
        <p:spPr>
          <a:xfrm>
            <a:off x="5961888" y="2944368"/>
            <a:ext cx="512064" cy="51206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Gateway ícono" descr="Gatew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025" y="3077505"/>
            <a:ext cx="245791" cy="245791"/>
          </a:xfrm>
          <a:prstGeom prst="rect">
            <a:avLst/>
          </a:prstGeom>
        </p:spPr>
      </p:pic>
      <p:sp>
        <p:nvSpPr>
          <p:cNvPr id="13" name="Gateway título"/>
          <p:cNvSpPr txBox="1"/>
          <p:nvPr/>
        </p:nvSpPr>
        <p:spPr>
          <a:xfrm>
            <a:off x="6675120" y="28803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Gateway · asignación persistente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Cada empresa, siempre en su versión</a:t>
            </a:r>
            <a:endParaRPr lang="en-US" sz="1400" dirty="0"/>
          </a:p>
        </p:txBody>
      </p:sp>
      <p:sp>
        <p:nvSpPr>
          <p:cNvPr id="14" name="Flecha estable"/>
          <p:cNvSpPr/>
          <p:nvPr/>
        </p:nvSpPr>
        <p:spPr>
          <a:xfrm>
            <a:off x="7166610" y="3639312"/>
            <a:ext cx="0" cy="31089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Flecha candidata"/>
          <p:cNvSpPr/>
          <p:nvPr/>
        </p:nvSpPr>
        <p:spPr>
          <a:xfrm>
            <a:off x="10252710" y="3639312"/>
            <a:ext cx="0" cy="31089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Estable"/>
          <p:cNvSpPr/>
          <p:nvPr/>
        </p:nvSpPr>
        <p:spPr>
          <a:xfrm>
            <a:off x="5760720" y="3977640"/>
            <a:ext cx="2811780" cy="1143000"/>
          </a:xfrm>
          <a:prstGeom prst="roundRect">
            <a:avLst>
              <a:gd name="adj" fmla="val 112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Estable etiqueta"/>
          <p:cNvSpPr txBox="1"/>
          <p:nvPr/>
        </p:nvSpPr>
        <p:spPr>
          <a:xfrm>
            <a:off x="5989320" y="4114800"/>
            <a:ext cx="2354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ESTABLE</a:t>
            </a:r>
            <a:endParaRPr lang="en-US" sz="1200" dirty="0"/>
          </a:p>
        </p:txBody>
      </p:sp>
      <p:sp>
        <p:nvSpPr>
          <p:cNvPr id="18" name="Estable versión"/>
          <p:cNvSpPr txBox="1"/>
          <p:nvPr/>
        </p:nvSpPr>
        <p:spPr>
          <a:xfrm>
            <a:off x="5989320" y="4370832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2.7.3</a:t>
            </a:r>
            <a:endParaRPr lang="en-US" sz="3400" dirty="0"/>
          </a:p>
        </p:txBody>
      </p:sp>
      <p:sp>
        <p:nvSpPr>
          <p:cNvPr id="19" name="Candidata"/>
          <p:cNvSpPr/>
          <p:nvPr/>
        </p:nvSpPr>
        <p:spPr>
          <a:xfrm>
            <a:off x="8846820" y="3977640"/>
            <a:ext cx="2811780" cy="1143000"/>
          </a:xfrm>
          <a:prstGeom prst="roundRect">
            <a:avLst>
              <a:gd name="adj" fmla="val 112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Candidata etiqueta"/>
          <p:cNvSpPr txBox="1"/>
          <p:nvPr/>
        </p:nvSpPr>
        <p:spPr>
          <a:xfrm>
            <a:off x="9075420" y="4114800"/>
            <a:ext cx="2354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CANDIDATA</a:t>
            </a:r>
            <a:endParaRPr lang="en-US" sz="1200" dirty="0"/>
          </a:p>
        </p:txBody>
      </p:sp>
      <p:sp>
        <p:nvSpPr>
          <p:cNvPr id="21" name="Candidata versión"/>
          <p:cNvSpPr txBox="1"/>
          <p:nvPr/>
        </p:nvSpPr>
        <p:spPr>
          <a:xfrm>
            <a:off x="9075420" y="4370832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2.8.0</a:t>
            </a:r>
            <a:endParaRPr lang="en-US" sz="3400" dirty="0"/>
          </a:p>
        </p:txBody>
      </p:sp>
      <p:sp>
        <p:nvSpPr>
          <p:cNvPr id="22" name="Riesgo compartido círculo"/>
          <p:cNvSpPr/>
          <p:nvPr/>
        </p:nvSpPr>
        <p:spPr>
          <a:xfrm>
            <a:off x="5760720" y="5440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Riesgo compartido ícono" descr="Riesgo comparti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5559552"/>
            <a:ext cx="219456" cy="219456"/>
          </a:xfrm>
          <a:prstGeom prst="rect">
            <a:avLst/>
          </a:prstGeom>
        </p:spPr>
      </p:pic>
      <p:sp>
        <p:nvSpPr>
          <p:cNvPr id="24" name="Riesgo texto"/>
          <p:cNvSpPr txBox="1"/>
          <p:nvPr/>
        </p:nvSpPr>
        <p:spPr>
          <a:xfrm>
            <a:off x="6400800" y="54406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Base compartida: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riesgo común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PERSONA 3 · FEATURE FLAGS Y AISLAMIENTO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Desplegar no es habilitar</a:t>
            </a:r>
            <a:endParaRPr lang="en-US" sz="3400" dirty="0"/>
          </a:p>
        </p:txBody>
      </p:sp>
      <p:sp>
        <p:nvSpPr>
          <p:cNvPr id="4" name="Desplegar"/>
          <p:cNvSpPr/>
          <p:nvPr/>
        </p:nvSpPr>
        <p:spPr>
          <a:xfrm>
            <a:off x="548640" y="1600200"/>
            <a:ext cx="2971800" cy="2331720"/>
          </a:xfrm>
          <a:prstGeom prst="roundRect">
            <a:avLst>
              <a:gd name="adj" fmla="val 549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Desplegar círculo"/>
          <p:cNvSpPr/>
          <p:nvPr/>
        </p:nvSpPr>
        <p:spPr>
          <a:xfrm>
            <a:off x="777240" y="1810512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Desplegar ícono" descr="Despleg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53158"/>
            <a:ext cx="263347" cy="263347"/>
          </a:xfrm>
          <a:prstGeom prst="rect">
            <a:avLst/>
          </a:prstGeom>
        </p:spPr>
      </p:pic>
      <p:sp>
        <p:nvSpPr>
          <p:cNvPr id="7" name="Desplegar título"/>
          <p:cNvSpPr txBox="1"/>
          <p:nvPr/>
        </p:nvSpPr>
        <p:spPr>
          <a:xfrm>
            <a:off x="1463040" y="1856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Desplegar</a:t>
            </a:r>
            <a:endParaRPr lang="en-US" sz="2000" dirty="0"/>
          </a:p>
        </p:txBody>
      </p:sp>
      <p:sp>
        <p:nvSpPr>
          <p:cNvPr id="8" name="Desplegar dato"/>
          <p:cNvSpPr txBox="1"/>
          <p:nvPr/>
        </p:nvSpPr>
        <p:spPr>
          <a:xfrm>
            <a:off x="777240" y="2514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2.8.0</a:t>
            </a:r>
            <a:endParaRPr lang="en-US" sz="2800" dirty="0"/>
          </a:p>
        </p:txBody>
      </p:sp>
      <p:sp>
        <p:nvSpPr>
          <p:cNvPr id="9" name="Desplegar texto"/>
          <p:cNvSpPr txBox="1"/>
          <p:nvPr/>
        </p:nvSpPr>
        <p:spPr>
          <a:xfrm>
            <a:off x="77724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Código instalado, función apagada</a:t>
            </a:r>
            <a:endParaRPr lang="en-US" sz="1300" dirty="0"/>
          </a:p>
        </p:txBody>
      </p:sp>
      <p:sp>
        <p:nvSpPr>
          <p:cNvPr id="10" name="Habilitar"/>
          <p:cNvSpPr/>
          <p:nvPr/>
        </p:nvSpPr>
        <p:spPr>
          <a:xfrm>
            <a:off x="3794760" y="1600200"/>
            <a:ext cx="2971800" cy="2331720"/>
          </a:xfrm>
          <a:prstGeom prst="roundRect">
            <a:avLst>
              <a:gd name="adj" fmla="val 549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Habilitar círculo"/>
          <p:cNvSpPr/>
          <p:nvPr/>
        </p:nvSpPr>
        <p:spPr>
          <a:xfrm>
            <a:off x="4023360" y="1810512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Habilitar ícono" descr="Habili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006" y="1953158"/>
            <a:ext cx="263347" cy="263347"/>
          </a:xfrm>
          <a:prstGeom prst="rect">
            <a:avLst/>
          </a:prstGeom>
        </p:spPr>
      </p:pic>
      <p:sp>
        <p:nvSpPr>
          <p:cNvPr id="13" name="Habilitar título"/>
          <p:cNvSpPr txBox="1"/>
          <p:nvPr/>
        </p:nvSpPr>
        <p:spPr>
          <a:xfrm>
            <a:off x="4709160" y="1856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Habilitar</a:t>
            </a:r>
            <a:endParaRPr lang="en-US" sz="2000" dirty="0"/>
          </a:p>
        </p:txBody>
      </p:sp>
      <p:sp>
        <p:nvSpPr>
          <p:cNvPr id="14" name="Habilitar dato"/>
          <p:cNvSpPr txBox="1"/>
          <p:nvPr/>
        </p:nvSpPr>
        <p:spPr>
          <a:xfrm>
            <a:off x="4023360" y="2514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 → ON</a:t>
            </a:r>
            <a:endParaRPr lang="en-US" sz="2800" dirty="0"/>
          </a:p>
        </p:txBody>
      </p:sp>
      <p:sp>
        <p:nvSpPr>
          <p:cNvPr id="15" name="Habilitar texto"/>
          <p:cNvSpPr txBox="1"/>
          <p:nvPr/>
        </p:nvSpPr>
        <p:spPr>
          <a:xfrm>
            <a:off x="402336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Por empresa, con Unleash</a:t>
            </a:r>
            <a:endParaRPr lang="en-US" sz="1300" dirty="0"/>
          </a:p>
        </p:txBody>
      </p:sp>
      <p:sp>
        <p:nvSpPr>
          <p:cNvPr id="16" name="Aislamiento"/>
          <p:cNvSpPr/>
          <p:nvPr/>
        </p:nvSpPr>
        <p:spPr>
          <a:xfrm>
            <a:off x="548640" y="4160520"/>
            <a:ext cx="6217920" cy="201168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Aislamiento círculo"/>
          <p:cNvSpPr/>
          <p:nvPr/>
        </p:nvSpPr>
        <p:spPr>
          <a:xfrm>
            <a:off x="777240" y="437083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Aislamiento ícono" descr="Aislamien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513478"/>
            <a:ext cx="263347" cy="263347"/>
          </a:xfrm>
          <a:prstGeom prst="rect">
            <a:avLst/>
          </a:prstGeom>
        </p:spPr>
      </p:pic>
      <p:sp>
        <p:nvSpPr>
          <p:cNvPr id="19" name="Aislamiento título"/>
          <p:cNvSpPr txBox="1"/>
          <p:nvPr/>
        </p:nvSpPr>
        <p:spPr>
          <a:xfrm>
            <a:off x="1463040" y="44165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Aislamiento siempre activo</a:t>
            </a:r>
            <a:endParaRPr lang="en-US" sz="1900" dirty="0"/>
          </a:p>
        </p:txBody>
      </p:sp>
      <p:sp>
        <p:nvSpPr>
          <p:cNvPr id="20" name="Aislamiento lista"/>
          <p:cNvSpPr txBox="1"/>
          <p:nvPr/>
        </p:nvSpPr>
        <p:spPr>
          <a:xfrm>
            <a:off x="822960" y="502920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Permisos y tenant por operación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RLS en PostgreSQL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Pruebas de acceso cruzado</a:t>
            </a:r>
            <a:endParaRPr lang="en-US" sz="1400" dirty="0"/>
          </a:p>
        </p:txBody>
      </p:sp>
      <p:pic>
        <p:nvPicPr>
          <p:cNvPr id="21" name="Image 3" descr="Panel de interruptores y escudo de aislamien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463040"/>
            <a:ext cx="4800600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ínea de producción: código, pruebas, imagen sellada y aprob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1188720"/>
            <a:ext cx="9144000" cy="391885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PERSONA 4 · CONFIGURACIÓN, DEVOPS Y CI/CD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Del cambio al release</a:t>
            </a:r>
            <a:endParaRPr lang="en-US" sz="3400" dirty="0"/>
          </a:p>
        </p:txBody>
      </p:sp>
      <p:sp>
        <p:nvSpPr>
          <p:cNvPr id="5" name="Paso 1"/>
          <p:cNvSpPr/>
          <p:nvPr/>
        </p:nvSpPr>
        <p:spPr>
          <a:xfrm>
            <a:off x="1478128" y="4919472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o 1 número"/>
          <p:cNvSpPr txBox="1"/>
          <p:nvPr/>
        </p:nvSpPr>
        <p:spPr>
          <a:xfrm>
            <a:off x="1478128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Paso 1 título"/>
          <p:cNvSpPr txBox="1"/>
          <p:nvPr/>
        </p:nvSpPr>
        <p:spPr>
          <a:xfrm>
            <a:off x="2008480" y="48646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Git</a:t>
            </a:r>
            <a:endParaRPr lang="en-US" sz="1700" dirty="0"/>
          </a:p>
        </p:txBody>
      </p:sp>
      <p:sp>
        <p:nvSpPr>
          <p:cNvPr id="8" name="Paso 1 texto"/>
          <p:cNvSpPr txBox="1"/>
          <p:nvPr/>
        </p:nvSpPr>
        <p:spPr>
          <a:xfrm>
            <a:off x="2008480" y="5212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Código, config y migraciones</a:t>
            </a:r>
            <a:endParaRPr lang="en-US" sz="1200" dirty="0"/>
          </a:p>
        </p:txBody>
      </p:sp>
      <p:sp>
        <p:nvSpPr>
          <p:cNvPr id="9" name="Paso 2"/>
          <p:cNvSpPr/>
          <p:nvPr/>
        </p:nvSpPr>
        <p:spPr>
          <a:xfrm>
            <a:off x="3764128" y="4919472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aso 2 número"/>
          <p:cNvSpPr txBox="1"/>
          <p:nvPr/>
        </p:nvSpPr>
        <p:spPr>
          <a:xfrm>
            <a:off x="3764128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Paso 2 título"/>
          <p:cNvSpPr txBox="1"/>
          <p:nvPr/>
        </p:nvSpPr>
        <p:spPr>
          <a:xfrm>
            <a:off x="4294480" y="48646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GitLab CI</a:t>
            </a:r>
            <a:endParaRPr lang="en-US" sz="1700" dirty="0"/>
          </a:p>
        </p:txBody>
      </p:sp>
      <p:sp>
        <p:nvSpPr>
          <p:cNvPr id="12" name="Paso 2 texto"/>
          <p:cNvSpPr txBox="1"/>
          <p:nvPr/>
        </p:nvSpPr>
        <p:spPr>
          <a:xfrm>
            <a:off x="4294480" y="5212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Pruebas e imagen 2.8.0</a:t>
            </a:r>
            <a:endParaRPr lang="en-US" sz="1200" dirty="0"/>
          </a:p>
        </p:txBody>
      </p:sp>
      <p:sp>
        <p:nvSpPr>
          <p:cNvPr id="13" name="Paso 3"/>
          <p:cNvSpPr/>
          <p:nvPr/>
        </p:nvSpPr>
        <p:spPr>
          <a:xfrm>
            <a:off x="6050128" y="4919472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aso 3 número"/>
          <p:cNvSpPr txBox="1"/>
          <p:nvPr/>
        </p:nvSpPr>
        <p:spPr>
          <a:xfrm>
            <a:off x="6050128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aso 3 título"/>
          <p:cNvSpPr txBox="1"/>
          <p:nvPr/>
        </p:nvSpPr>
        <p:spPr>
          <a:xfrm>
            <a:off x="6580480" y="48646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Digest fijo</a:t>
            </a:r>
            <a:endParaRPr lang="en-US" sz="1700" dirty="0"/>
          </a:p>
        </p:txBody>
      </p:sp>
      <p:sp>
        <p:nvSpPr>
          <p:cNvPr id="16" name="Paso 3 texto"/>
          <p:cNvSpPr txBox="1"/>
          <p:nvPr/>
        </p:nvSpPr>
        <p:spPr>
          <a:xfrm>
            <a:off x="6580480" y="5212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Misma imagen en preproducción</a:t>
            </a:r>
            <a:endParaRPr lang="en-US" sz="1200" dirty="0"/>
          </a:p>
        </p:txBody>
      </p:sp>
      <p:sp>
        <p:nvSpPr>
          <p:cNvPr id="17" name="Paso 4"/>
          <p:cNvSpPr/>
          <p:nvPr/>
        </p:nvSpPr>
        <p:spPr>
          <a:xfrm>
            <a:off x="8336128" y="491947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aso 4 número"/>
          <p:cNvSpPr txBox="1"/>
          <p:nvPr/>
        </p:nvSpPr>
        <p:spPr>
          <a:xfrm>
            <a:off x="8336128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Paso 4 título"/>
          <p:cNvSpPr txBox="1"/>
          <p:nvPr/>
        </p:nvSpPr>
        <p:spPr>
          <a:xfrm>
            <a:off x="8866480" y="48646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Aprobación</a:t>
            </a:r>
            <a:endParaRPr lang="en-US" sz="1700" dirty="0"/>
          </a:p>
        </p:txBody>
      </p:sp>
      <p:sp>
        <p:nvSpPr>
          <p:cNvPr id="20" name="Paso 4 texto"/>
          <p:cNvSpPr txBox="1"/>
          <p:nvPr/>
        </p:nvSpPr>
        <p:spPr>
          <a:xfrm>
            <a:off x="8866480" y="5212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QA, seguridad, ops y release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PERSONA 5 · ROLLOUT POR COHORTES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Despliegue gradual</a:t>
            </a:r>
            <a:endParaRPr lang="en-US" sz="3400" dirty="0"/>
          </a:p>
        </p:txBody>
      </p:sp>
      <p:sp>
        <p:nvSpPr>
          <p:cNvPr id="4" name="Etapa 5%"/>
          <p:cNvSpPr/>
          <p:nvPr/>
        </p:nvSpPr>
        <p:spPr>
          <a:xfrm>
            <a:off x="548640" y="3200400"/>
            <a:ext cx="1828800" cy="1417320"/>
          </a:xfrm>
          <a:prstGeom prst="roundRect">
            <a:avLst>
              <a:gd name="adj" fmla="val 9032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Etapa 5% valor"/>
          <p:cNvSpPr txBox="1"/>
          <p:nvPr/>
        </p:nvSpPr>
        <p:spPr>
          <a:xfrm>
            <a:off x="731520" y="336499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5%</a:t>
            </a:r>
            <a:endParaRPr lang="en-US" sz="3600" dirty="0"/>
          </a:p>
        </p:txBody>
      </p:sp>
      <p:sp>
        <p:nvSpPr>
          <p:cNvPr id="6" name="Etapa 5% texto"/>
          <p:cNvSpPr txBox="1"/>
          <p:nvPr/>
        </p:nvSpPr>
        <p:spPr>
          <a:xfrm>
            <a:off x="73152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Pilotos de cada rubro</a:t>
            </a:r>
            <a:endParaRPr lang="en-US" sz="1300" dirty="0"/>
          </a:p>
        </p:txBody>
      </p:sp>
      <p:sp>
        <p:nvSpPr>
          <p:cNvPr id="7" name="Etapa 25%"/>
          <p:cNvSpPr/>
          <p:nvPr/>
        </p:nvSpPr>
        <p:spPr>
          <a:xfrm>
            <a:off x="2606040" y="2560320"/>
            <a:ext cx="1828800" cy="205740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Etapa 25% valor"/>
          <p:cNvSpPr txBox="1"/>
          <p:nvPr/>
        </p:nvSpPr>
        <p:spPr>
          <a:xfrm>
            <a:off x="2788920" y="27249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25%</a:t>
            </a:r>
            <a:endParaRPr lang="en-US" sz="3600" dirty="0"/>
          </a:p>
        </p:txBody>
      </p:sp>
      <p:sp>
        <p:nvSpPr>
          <p:cNvPr id="9" name="Etapa 25% texto"/>
          <p:cNvSpPr txBox="1"/>
          <p:nvPr/>
        </p:nvSpPr>
        <p:spPr>
          <a:xfrm>
            <a:off x="2788920" y="3383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Más empresas</a:t>
            </a:r>
            <a:endParaRPr lang="en-US" sz="1300" dirty="0"/>
          </a:p>
        </p:txBody>
      </p:sp>
      <p:sp>
        <p:nvSpPr>
          <p:cNvPr id="10" name="Etapa 100%"/>
          <p:cNvSpPr/>
          <p:nvPr/>
        </p:nvSpPr>
        <p:spPr>
          <a:xfrm>
            <a:off x="4663440" y="1920240"/>
            <a:ext cx="1828800" cy="269748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Etapa 100% valor"/>
          <p:cNvSpPr txBox="1"/>
          <p:nvPr/>
        </p:nvSpPr>
        <p:spPr>
          <a:xfrm>
            <a:off x="4846320" y="20848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100%</a:t>
            </a:r>
            <a:endParaRPr lang="en-US" sz="3600" dirty="0"/>
          </a:p>
        </p:txBody>
      </p:sp>
      <p:sp>
        <p:nvSpPr>
          <p:cNvPr id="12" name="Etapa 100% texto"/>
          <p:cNvSpPr txBox="1"/>
          <p:nvPr/>
        </p:nvSpPr>
        <p:spPr>
          <a:xfrm>
            <a:off x="484632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Toda la plataforma</a:t>
            </a:r>
            <a:endParaRPr lang="en-US" sz="1300" dirty="0"/>
          </a:p>
        </p:txBody>
      </p:sp>
      <p:sp>
        <p:nvSpPr>
          <p:cNvPr id="13" name="Ventana círculo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Ventana ícono" descr="Vent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056632"/>
            <a:ext cx="219456" cy="219456"/>
          </a:xfrm>
          <a:prstGeom prst="rect">
            <a:avLst/>
          </a:prstGeom>
        </p:spPr>
      </p:pic>
      <p:sp>
        <p:nvSpPr>
          <p:cNvPr id="15" name="Ventana texto"/>
          <p:cNvSpPr txBox="1"/>
          <p:nvPr/>
        </p:nvSpPr>
        <p:spPr>
          <a:xfrm>
            <a:off x="1188720" y="4937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Martes 22:00 ARG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 · aviso 24 h antes</a:t>
            </a:r>
            <a:endParaRPr lang="en-US" sz="1400" dirty="0"/>
          </a:p>
        </p:txBody>
      </p:sp>
      <p:sp>
        <p:nvSpPr>
          <p:cNvPr id="16" name="Observación círculo"/>
          <p:cNvSpPr/>
          <p:nvPr/>
        </p:nvSpPr>
        <p:spPr>
          <a:xfrm>
            <a:off x="548640" y="555955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Observación ícono" descr="Observa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678424"/>
            <a:ext cx="219456" cy="219456"/>
          </a:xfrm>
          <a:prstGeom prst="rect">
            <a:avLst/>
          </a:prstGeom>
        </p:spPr>
      </p:pic>
      <p:sp>
        <p:nvSpPr>
          <p:cNvPr id="18" name="Observación texto"/>
          <p:cNvSpPr txBox="1"/>
          <p:nvPr/>
        </p:nvSpPr>
        <p:spPr>
          <a:xfrm>
            <a:off x="1188720" y="55595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15 min por etapa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 · tráfico limitado</a:t>
            </a:r>
            <a:endParaRPr lang="en-US" sz="1400" dirty="0"/>
          </a:p>
        </p:txBody>
      </p:sp>
      <p:pic>
        <p:nvPicPr>
          <p:cNvPr id="19" name="Image 2" descr="Escalones crecientes de empresas, con un canario adelan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463040"/>
            <a:ext cx="4800600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PERSONA 6 · MÉTRICAS POR VERSIÓN Y POR TENANT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Criterios para avanzar</a:t>
            </a:r>
            <a:endParaRPr lang="en-US" sz="3400" dirty="0"/>
          </a:p>
        </p:txBody>
      </p:sp>
      <p:pic>
        <p:nvPicPr>
          <p:cNvPr id="4" name="Image 0" descr="Operador frente a tableros de monitor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4800600" cy="4800600"/>
          </a:xfrm>
          <a:prstGeom prst="rect">
            <a:avLst/>
          </a:prstGeom>
        </p:spPr>
      </p:pic>
      <p:sp>
        <p:nvSpPr>
          <p:cNvPr id="5" name="Métrica errores 5xx"/>
          <p:cNvSpPr/>
          <p:nvPr/>
        </p:nvSpPr>
        <p:spPr>
          <a:xfrm>
            <a:off x="5623560" y="1463040"/>
            <a:ext cx="1874520" cy="1554480"/>
          </a:xfrm>
          <a:prstGeom prst="roundRect">
            <a:avLst>
              <a:gd name="adj" fmla="val 823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Métrica valor 0"/>
          <p:cNvSpPr txBox="1"/>
          <p:nvPr/>
        </p:nvSpPr>
        <p:spPr>
          <a:xfrm>
            <a:off x="5806440" y="1600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&lt;1%</a:t>
            </a:r>
            <a:endParaRPr lang="en-US" sz="3800" dirty="0"/>
          </a:p>
        </p:txBody>
      </p:sp>
      <p:sp>
        <p:nvSpPr>
          <p:cNvPr id="7" name="Métrica texto 0"/>
          <p:cNvSpPr txBox="1"/>
          <p:nvPr/>
        </p:nvSpPr>
        <p:spPr>
          <a:xfrm>
            <a:off x="5806440" y="23042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errores 5xx</a:t>
            </a:r>
            <a:endParaRPr lang="en-US" sz="1300" dirty="0"/>
          </a:p>
        </p:txBody>
      </p:sp>
      <p:sp>
        <p:nvSpPr>
          <p:cNvPr id="8" name="Métrica más latencia que la estable"/>
          <p:cNvSpPr/>
          <p:nvPr/>
        </p:nvSpPr>
        <p:spPr>
          <a:xfrm>
            <a:off x="7680960" y="1463040"/>
            <a:ext cx="1874520" cy="1554480"/>
          </a:xfrm>
          <a:prstGeom prst="roundRect">
            <a:avLst>
              <a:gd name="adj" fmla="val 823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Métrica valor 1"/>
          <p:cNvSpPr txBox="1"/>
          <p:nvPr/>
        </p:nvSpPr>
        <p:spPr>
          <a:xfrm>
            <a:off x="7863840" y="1600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≤20%</a:t>
            </a:r>
            <a:endParaRPr lang="en-US" sz="3800" dirty="0"/>
          </a:p>
        </p:txBody>
      </p:sp>
      <p:sp>
        <p:nvSpPr>
          <p:cNvPr id="10" name="Métrica texto 1"/>
          <p:cNvSpPr txBox="1"/>
          <p:nvPr/>
        </p:nvSpPr>
        <p:spPr>
          <a:xfrm>
            <a:off x="7863840" y="23042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más latencia que la estable</a:t>
            </a:r>
            <a:endParaRPr lang="en-US" sz="1300" dirty="0"/>
          </a:p>
        </p:txBody>
      </p:sp>
      <p:sp>
        <p:nvSpPr>
          <p:cNvPr id="11" name="Métrica accesos entre tenants"/>
          <p:cNvSpPr/>
          <p:nvPr/>
        </p:nvSpPr>
        <p:spPr>
          <a:xfrm>
            <a:off x="9738360" y="1463040"/>
            <a:ext cx="1874520" cy="1554480"/>
          </a:xfrm>
          <a:prstGeom prst="roundRect">
            <a:avLst>
              <a:gd name="adj" fmla="val 8235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Métrica valor 2"/>
          <p:cNvSpPr txBox="1"/>
          <p:nvPr/>
        </p:nvSpPr>
        <p:spPr>
          <a:xfrm>
            <a:off x="9921240" y="1600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3800" dirty="0"/>
          </a:p>
        </p:txBody>
      </p:sp>
      <p:sp>
        <p:nvSpPr>
          <p:cNvPr id="13" name="Métrica texto 2"/>
          <p:cNvSpPr txBox="1"/>
          <p:nvPr/>
        </p:nvSpPr>
        <p:spPr>
          <a:xfrm>
            <a:off x="9921240" y="23042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accesos entre tenants</a:t>
            </a:r>
            <a:endParaRPr lang="en-US" sz="1300" dirty="0"/>
          </a:p>
        </p:txBody>
      </p:sp>
      <p:sp>
        <p:nvSpPr>
          <p:cNvPr id="14" name="Smoke tests"/>
          <p:cNvSpPr txBox="1"/>
          <p:nvPr/>
        </p:nvSpPr>
        <p:spPr>
          <a:xfrm>
            <a:off x="5623560" y="3154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Smoke: login · guardar · buscar</a:t>
            </a:r>
            <a:endParaRPr lang="en-US" sz="1200" dirty="0"/>
          </a:p>
        </p:txBody>
      </p:sp>
      <p:sp>
        <p:nvSpPr>
          <p:cNvPr id="15" name="Regla 1"/>
          <p:cNvSpPr/>
          <p:nvPr/>
        </p:nvSpPr>
        <p:spPr>
          <a:xfrm>
            <a:off x="5623560" y="3611880"/>
            <a:ext cx="6035040" cy="731520"/>
          </a:xfrm>
          <a:prstGeom prst="roundRect">
            <a:avLst>
              <a:gd name="adj" fmla="val 175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Regla 1 círculo"/>
          <p:cNvSpPr/>
          <p:nvPr/>
        </p:nvSpPr>
        <p:spPr>
          <a:xfrm>
            <a:off x="5788152" y="373989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egla 1 ícono" descr="Regla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779" y="3863523"/>
            <a:ext cx="228234" cy="228234"/>
          </a:xfrm>
          <a:prstGeom prst="rect">
            <a:avLst/>
          </a:prstGeom>
        </p:spPr>
      </p:pic>
      <p:sp>
        <p:nvSpPr>
          <p:cNvPr id="18" name="Regla texto 1"/>
          <p:cNvSpPr txBox="1"/>
          <p:nvPr/>
        </p:nvSpPr>
        <p:spPr>
          <a:xfrm>
            <a:off x="6446520" y="3611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Si faltan datos</a:t>
            </a:r>
            <a:endParaRPr lang="en-US" sz="14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Pausamos</a:t>
            </a:r>
            <a:endParaRPr lang="en-US" sz="1400" dirty="0"/>
          </a:p>
        </p:txBody>
      </p:sp>
      <p:sp>
        <p:nvSpPr>
          <p:cNvPr id="19" name="Regla 2"/>
          <p:cNvSpPr/>
          <p:nvPr/>
        </p:nvSpPr>
        <p:spPr>
          <a:xfrm>
            <a:off x="5623560" y="4498848"/>
            <a:ext cx="6035040" cy="731520"/>
          </a:xfrm>
          <a:prstGeom prst="roundRect">
            <a:avLst>
              <a:gd name="adj" fmla="val 175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Regla 2 círculo"/>
          <p:cNvSpPr/>
          <p:nvPr/>
        </p:nvSpPr>
        <p:spPr>
          <a:xfrm>
            <a:off x="5788152" y="4626864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Regla 2 ícono" descr="Regla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9" y="4750491"/>
            <a:ext cx="228234" cy="228234"/>
          </a:xfrm>
          <a:prstGeom prst="rect">
            <a:avLst/>
          </a:prstGeom>
        </p:spPr>
      </p:pic>
      <p:sp>
        <p:nvSpPr>
          <p:cNvPr id="22" name="Regla texto 2"/>
          <p:cNvSpPr txBox="1"/>
          <p:nvPr/>
        </p:nvSpPr>
        <p:spPr>
          <a:xfrm>
            <a:off x="6446520" y="449884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Límite incumplido 5 min</a:t>
            </a:r>
            <a:endParaRPr lang="en-US" sz="14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Revertimos</a:t>
            </a:r>
            <a:endParaRPr lang="en-US" sz="1400" dirty="0"/>
          </a:p>
        </p:txBody>
      </p:sp>
      <p:sp>
        <p:nvSpPr>
          <p:cNvPr id="23" name="Regla 3"/>
          <p:cNvSpPr/>
          <p:nvPr/>
        </p:nvSpPr>
        <p:spPr>
          <a:xfrm>
            <a:off x="5623560" y="5385816"/>
            <a:ext cx="6035040" cy="731520"/>
          </a:xfrm>
          <a:prstGeom prst="roundRect">
            <a:avLst>
              <a:gd name="adj" fmla="val 175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Regla 3 círculo"/>
          <p:cNvSpPr/>
          <p:nvPr/>
        </p:nvSpPr>
        <p:spPr>
          <a:xfrm>
            <a:off x="5788152" y="5513832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Regla 3 ícono" descr="Regla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779" y="5637459"/>
            <a:ext cx="228234" cy="228234"/>
          </a:xfrm>
          <a:prstGeom prst="rect">
            <a:avLst/>
          </a:prstGeom>
        </p:spPr>
      </p:pic>
      <p:sp>
        <p:nvSpPr>
          <p:cNvPr id="26" name="Regla texto 3"/>
          <p:cNvSpPr txBox="1"/>
          <p:nvPr/>
        </p:nvSpPr>
        <p:spPr>
          <a:xfrm>
            <a:off x="6446520" y="538581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Falla crítica o acceso cruzado</a:t>
            </a:r>
            <a:endParaRPr lang="en-US" sz="14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Contingencia inmediata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PERSONA 7 · CONTINGENCIA Y CIERRE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Si algo falla, volvemos atrás</a:t>
            </a:r>
            <a:endParaRPr lang="en-US" sz="3400" dirty="0"/>
          </a:p>
        </p:txBody>
      </p:sp>
      <p:sp>
        <p:nvSpPr>
          <p:cNvPr id="4" name="Reversión 1 círculo"/>
          <p:cNvSpPr/>
          <p:nvPr/>
        </p:nvSpPr>
        <p:spPr>
          <a:xfrm>
            <a:off x="548640" y="15544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eversión 1 ícono" descr="Reversió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1678107"/>
            <a:ext cx="228234" cy="228234"/>
          </a:xfrm>
          <a:prstGeom prst="rect">
            <a:avLst/>
          </a:prstGeom>
        </p:spPr>
      </p:pic>
      <p:sp>
        <p:nvSpPr>
          <p:cNvPr id="6" name="Reversión texto 1"/>
          <p:cNvSpPr txBox="1"/>
          <p:nvPr/>
        </p:nvSpPr>
        <p:spPr>
          <a:xfrm>
            <a:off x="1188720" y="155448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Flag OFF, avance frenado</a:t>
            </a:r>
            <a:endParaRPr lang="en-US" sz="1600" dirty="0"/>
          </a:p>
        </p:txBody>
      </p:sp>
      <p:sp>
        <p:nvSpPr>
          <p:cNvPr id="7" name="Reversión 2 círculo"/>
          <p:cNvSpPr/>
          <p:nvPr/>
        </p:nvSpPr>
        <p:spPr>
          <a:xfrm>
            <a:off x="548640" y="221284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Reversión 2 ícono" descr="Reversió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2336475"/>
            <a:ext cx="228234" cy="228234"/>
          </a:xfrm>
          <a:prstGeom prst="rect">
            <a:avLst/>
          </a:prstGeom>
        </p:spPr>
      </p:pic>
      <p:sp>
        <p:nvSpPr>
          <p:cNvPr id="9" name="Reversión texto 2"/>
          <p:cNvSpPr txBox="1"/>
          <p:nvPr/>
        </p:nvSpPr>
        <p:spPr>
          <a:xfrm>
            <a:off x="1188720" y="221284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Tenants vuelven a 2.7.3</a:t>
            </a:r>
            <a:endParaRPr lang="en-US" sz="1600" dirty="0"/>
          </a:p>
        </p:txBody>
      </p:sp>
      <p:sp>
        <p:nvSpPr>
          <p:cNvPr id="10" name="Reversión 3 círculo"/>
          <p:cNvSpPr/>
          <p:nvPr/>
        </p:nvSpPr>
        <p:spPr>
          <a:xfrm>
            <a:off x="548640" y="2871216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Reversión 3 ícono" descr="Reversió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2994843"/>
            <a:ext cx="228234" cy="228234"/>
          </a:xfrm>
          <a:prstGeom prst="rect">
            <a:avLst/>
          </a:prstGeom>
        </p:spPr>
      </p:pic>
      <p:sp>
        <p:nvSpPr>
          <p:cNvPr id="12" name="Reversión texto 3"/>
          <p:cNvSpPr txBox="1"/>
          <p:nvPr/>
        </p:nvSpPr>
        <p:spPr>
          <a:xfrm>
            <a:off x="1188720" y="287121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Recuperación validada</a:t>
            </a:r>
            <a:endParaRPr lang="en-US" sz="1600" dirty="0"/>
          </a:p>
        </p:txBody>
      </p:sp>
      <p:sp>
        <p:nvSpPr>
          <p:cNvPr id="13" name="Migraciones"/>
          <p:cNvSpPr/>
          <p:nvPr/>
        </p:nvSpPr>
        <p:spPr>
          <a:xfrm>
            <a:off x="548640" y="3611880"/>
            <a:ext cx="5577840" cy="868680"/>
          </a:xfrm>
          <a:prstGeom prst="roundRect">
            <a:avLst>
              <a:gd name="adj" fmla="val 1473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Migraciones círculo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Migraciones ícono" descr="Migracion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" y="3925519"/>
            <a:ext cx="241402" cy="241402"/>
          </a:xfrm>
          <a:prstGeom prst="rect">
            <a:avLst/>
          </a:prstGeom>
        </p:spPr>
      </p:pic>
      <p:sp>
        <p:nvSpPr>
          <p:cNvPr id="16" name="Migraciones texto"/>
          <p:cNvSpPr txBox="1"/>
          <p:nvPr/>
        </p:nvSpPr>
        <p:spPr>
          <a:xfrm>
            <a:off x="1417320" y="3657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Base: solo cambios compatibles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Eliminaciones en otra entrega</a:t>
            </a:r>
            <a:endParaRPr lang="en-US" sz="1400" dirty="0"/>
          </a:p>
        </p:txBody>
      </p:sp>
      <p:sp>
        <p:nvSpPr>
          <p:cNvPr id="17" name="Gracias"/>
          <p:cNvSpPr txBox="1"/>
          <p:nvPr/>
        </p:nvSpPr>
        <p:spPr>
          <a:xfrm>
            <a:off x="548640" y="4709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Gracias</a:t>
            </a:r>
            <a:endParaRPr lang="en-US" sz="5400" dirty="0"/>
          </a:p>
        </p:txBody>
      </p:sp>
      <p:sp>
        <p:nvSpPr>
          <p:cNvPr id="18" name="Propuesta"/>
          <p:cNvSpPr txBox="1"/>
          <p:nvPr/>
        </p:nvSpPr>
        <p:spPr>
          <a:xfrm>
            <a:off x="548640" y="55321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Pilotos representativos + límite de tráfico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ANEXO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Fuentes y herramientas</a:t>
            </a:r>
            <a:endParaRPr lang="en-US" sz="3400" dirty="0"/>
          </a:p>
        </p:txBody>
      </p:sp>
      <p:sp>
        <p:nvSpPr>
          <p:cNvPr id="4" name="Aislamiento"/>
          <p:cNvSpPr/>
          <p:nvPr/>
        </p:nvSpPr>
        <p:spPr>
          <a:xfrm>
            <a:off x="548640" y="1463040"/>
            <a:ext cx="3566160" cy="201168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Aislamiento círculo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islamiento ícono" descr="Aislami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22399"/>
            <a:ext cx="241402" cy="241402"/>
          </a:xfrm>
          <a:prstGeom prst="rect">
            <a:avLst/>
          </a:prstGeom>
        </p:spPr>
      </p:pic>
      <p:sp>
        <p:nvSpPr>
          <p:cNvPr id="7" name="Aislamiento título"/>
          <p:cNvSpPr txBox="1"/>
          <p:nvPr/>
        </p:nvSpPr>
        <p:spPr>
          <a:xfrm>
            <a:off x="141732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Aislamiento</a:t>
            </a:r>
            <a:endParaRPr lang="en-US" sz="1800" dirty="0"/>
          </a:p>
        </p:txBody>
      </p:sp>
      <p:sp>
        <p:nvSpPr>
          <p:cNvPr id="8" name="Aislamiento lista"/>
          <p:cNvSpPr txBox="1"/>
          <p:nvPr/>
        </p:nvSpPr>
        <p:spPr>
          <a:xfrm>
            <a:off x="822960" y="2377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AWS SaaS Lens · Tenant isolation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PostgreSQL 17 · Row Security Policies</a:t>
            </a:r>
            <a:endParaRPr lang="en-US" sz="1300" dirty="0"/>
          </a:p>
        </p:txBody>
      </p:sp>
      <p:sp>
        <p:nvSpPr>
          <p:cNvPr id="9" name="Despliegue"/>
          <p:cNvSpPr/>
          <p:nvPr/>
        </p:nvSpPr>
        <p:spPr>
          <a:xfrm>
            <a:off x="4343400" y="1463040"/>
            <a:ext cx="3566160" cy="201168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Despliegue círculo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Despliegue ícono" descr="Desplieg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1822399"/>
            <a:ext cx="241402" cy="241402"/>
          </a:xfrm>
          <a:prstGeom prst="rect">
            <a:avLst/>
          </a:prstGeom>
        </p:spPr>
      </p:pic>
      <p:sp>
        <p:nvSpPr>
          <p:cNvPr id="12" name="Despliegue título"/>
          <p:cNvSpPr txBox="1"/>
          <p:nvPr/>
        </p:nvSpPr>
        <p:spPr>
          <a:xfrm>
            <a:off x="521208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Despliegue</a:t>
            </a:r>
            <a:endParaRPr lang="en-US" sz="1800" dirty="0"/>
          </a:p>
        </p:txBody>
      </p:sp>
      <p:sp>
        <p:nvSpPr>
          <p:cNvPr id="13" name="Despliegue lista"/>
          <p:cNvSpPr txBox="1"/>
          <p:nvPr/>
        </p:nvSpPr>
        <p:spPr>
          <a:xfrm>
            <a:off x="4617720" y="2377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Kubernetes · Images y Probes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GitLab · Deployment approvals</a:t>
            </a:r>
            <a:endParaRPr lang="en-US" sz="1300" dirty="0"/>
          </a:p>
        </p:txBody>
      </p:sp>
      <p:sp>
        <p:nvSpPr>
          <p:cNvPr id="14" name="Cambios y flags"/>
          <p:cNvSpPr/>
          <p:nvPr/>
        </p:nvSpPr>
        <p:spPr>
          <a:xfrm>
            <a:off x="548640" y="3703320"/>
            <a:ext cx="3566160" cy="201168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Cambios y flags círculo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Cambios y flags ícono" descr="Cambios y fla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062679"/>
            <a:ext cx="241402" cy="241402"/>
          </a:xfrm>
          <a:prstGeom prst="rect">
            <a:avLst/>
          </a:prstGeom>
        </p:spPr>
      </p:pic>
      <p:sp>
        <p:nvSpPr>
          <p:cNvPr id="17" name="Cambios y flags título"/>
          <p:cNvSpPr txBox="1"/>
          <p:nvPr/>
        </p:nvSpPr>
        <p:spPr>
          <a:xfrm>
            <a:off x="141732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Cambios y flags</a:t>
            </a:r>
            <a:endParaRPr lang="en-US" sz="1800" dirty="0"/>
          </a:p>
        </p:txBody>
      </p:sp>
      <p:sp>
        <p:nvSpPr>
          <p:cNvPr id="18" name="Cambios y flags lista"/>
          <p:cNvSpPr txBox="1"/>
          <p:nvPr/>
        </p:nvSpPr>
        <p:spPr>
          <a:xfrm>
            <a:off x="822960" y="46177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Unleash · Activation strategies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Prisma · Expand-and-contract</a:t>
            </a:r>
            <a:endParaRPr lang="en-US" sz="1300" dirty="0"/>
          </a:p>
        </p:txBody>
      </p:sp>
      <p:sp>
        <p:nvSpPr>
          <p:cNvPr id="19" name="Diseño e IA"/>
          <p:cNvSpPr/>
          <p:nvPr/>
        </p:nvSpPr>
        <p:spPr>
          <a:xfrm>
            <a:off x="4343400" y="3703320"/>
            <a:ext cx="3566160" cy="201168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Diseño e IA círculo"/>
          <p:cNvSpPr/>
          <p:nvPr/>
        </p:nvSpPr>
        <p:spPr>
          <a:xfrm>
            <a:off x="4572000" y="39319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Diseño e IA ícono" descr="Diseño e I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759" y="4062679"/>
            <a:ext cx="241402" cy="241402"/>
          </a:xfrm>
          <a:prstGeom prst="rect">
            <a:avLst/>
          </a:prstGeom>
        </p:spPr>
      </p:pic>
      <p:sp>
        <p:nvSpPr>
          <p:cNvPr id="22" name="Diseño e IA título"/>
          <p:cNvSpPr txBox="1"/>
          <p:nvPr/>
        </p:nvSpPr>
        <p:spPr>
          <a:xfrm>
            <a:off x="521208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Diseño e IA</a:t>
            </a:r>
            <a:endParaRPr lang="en-US" sz="1800" dirty="0"/>
          </a:p>
        </p:txBody>
      </p:sp>
      <p:sp>
        <p:nvSpPr>
          <p:cNvPr id="23" name="Diseño e IA lista"/>
          <p:cNvSpPr txBox="1"/>
          <p:nvPr/>
        </p:nvSpPr>
        <p:spPr>
          <a:xfrm>
            <a:off x="4617720" y="46177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Ilustraciones generadas con 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ChatGPT y Claude · apoyo; revisión del grupo</a:t>
            </a:r>
            <a:endParaRPr lang="en-US" sz="1300" dirty="0"/>
          </a:p>
        </p:txBody>
      </p:sp>
      <p:pic>
        <p:nvPicPr>
          <p:cNvPr id="24" name="Image 4" descr="Estante de documentación técni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901952"/>
            <a:ext cx="3383280" cy="3383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EQUIPO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Grupo 5 · Comisión 4K3</a:t>
            </a:r>
            <a:endParaRPr lang="en-US" sz="3400" dirty="0"/>
          </a:p>
        </p:txBody>
      </p:sp>
      <p:sp>
        <p:nvSpPr>
          <p:cNvPr id="4" name="Integrante Delfina Baravalle"/>
          <p:cNvSpPr txBox="1"/>
          <p:nvPr/>
        </p:nvSpPr>
        <p:spPr>
          <a:xfrm>
            <a:off x="548640" y="1600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Delfina Baravalle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400403</a:t>
            </a:r>
            <a:endParaRPr lang="en-US" sz="1400" dirty="0"/>
          </a:p>
        </p:txBody>
      </p:sp>
      <p:sp>
        <p:nvSpPr>
          <p:cNvPr id="5" name="Integrante Martin Carrizo"/>
          <p:cNvSpPr txBox="1"/>
          <p:nvPr/>
        </p:nvSpPr>
        <p:spPr>
          <a:xfrm>
            <a:off x="548640" y="22037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Martin Carrizo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400562</a:t>
            </a:r>
            <a:endParaRPr lang="en-US" sz="1400" dirty="0"/>
          </a:p>
        </p:txBody>
      </p:sp>
      <p:sp>
        <p:nvSpPr>
          <p:cNvPr id="6" name="Integrante Juan Coutsiers"/>
          <p:cNvSpPr txBox="1"/>
          <p:nvPr/>
        </p:nvSpPr>
        <p:spPr>
          <a:xfrm>
            <a:off x="548640" y="2807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Juan Coutsiers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406128</a:t>
            </a:r>
            <a:endParaRPr lang="en-US" sz="1400" dirty="0"/>
          </a:p>
        </p:txBody>
      </p:sp>
      <p:sp>
        <p:nvSpPr>
          <p:cNvPr id="7" name="Integrante Matias Cufre"/>
          <p:cNvSpPr txBox="1"/>
          <p:nvPr/>
        </p:nvSpPr>
        <p:spPr>
          <a:xfrm>
            <a:off x="548640" y="3410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Matias Cufre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94898</a:t>
            </a:r>
            <a:endParaRPr lang="en-US" sz="1400" dirty="0"/>
          </a:p>
        </p:txBody>
      </p:sp>
      <p:sp>
        <p:nvSpPr>
          <p:cNvPr id="8" name="Integrante Melina Gigena"/>
          <p:cNvSpPr txBox="1"/>
          <p:nvPr/>
        </p:nvSpPr>
        <p:spPr>
          <a:xfrm>
            <a:off x="548640" y="40142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Melina Gigena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400089</a:t>
            </a:r>
            <a:endParaRPr lang="en-US" sz="1400" dirty="0"/>
          </a:p>
        </p:txBody>
      </p:sp>
      <p:sp>
        <p:nvSpPr>
          <p:cNvPr id="9" name="Integrante Camilo Martin Valentino"/>
          <p:cNvSpPr txBox="1"/>
          <p:nvPr/>
        </p:nvSpPr>
        <p:spPr>
          <a:xfrm>
            <a:off x="54864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Camilo Martin Valentino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400312</a:t>
            </a:r>
            <a:endParaRPr lang="en-US" sz="1400" dirty="0"/>
          </a:p>
        </p:txBody>
      </p:sp>
      <p:sp>
        <p:nvSpPr>
          <p:cNvPr id="10" name="Integrante Gonzalo Maurino Medina"/>
          <p:cNvSpPr txBox="1"/>
          <p:nvPr/>
        </p:nvSpPr>
        <p:spPr>
          <a:xfrm>
            <a:off x="548640" y="522122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Gonzalo Maurino Medina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401062</a:t>
            </a:r>
            <a:endParaRPr lang="en-US" sz="1400" dirty="0"/>
          </a:p>
        </p:txBody>
      </p:sp>
      <p:sp>
        <p:nvSpPr>
          <p:cNvPr id="11" name="Integrante Guadalupe Mendiolaza"/>
          <p:cNvSpPr txBox="1"/>
          <p:nvPr/>
        </p:nvSpPr>
        <p:spPr>
          <a:xfrm>
            <a:off x="4480560" y="1600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Guadalupe Mendiolaza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401115</a:t>
            </a:r>
            <a:endParaRPr lang="en-US" sz="1400" dirty="0"/>
          </a:p>
        </p:txBody>
      </p:sp>
      <p:sp>
        <p:nvSpPr>
          <p:cNvPr id="12" name="Integrante Tomás Padilla"/>
          <p:cNvSpPr txBox="1"/>
          <p:nvPr/>
        </p:nvSpPr>
        <p:spPr>
          <a:xfrm>
            <a:off x="4480560" y="22037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Tomás Padilla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94192</a:t>
            </a:r>
            <a:endParaRPr lang="en-US" sz="1400" dirty="0"/>
          </a:p>
        </p:txBody>
      </p:sp>
      <p:sp>
        <p:nvSpPr>
          <p:cNvPr id="13" name="Integrante Ezequias Passon"/>
          <p:cNvSpPr txBox="1"/>
          <p:nvPr/>
        </p:nvSpPr>
        <p:spPr>
          <a:xfrm>
            <a:off x="4480560" y="2807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Ezequias Passon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402046</a:t>
            </a:r>
            <a:endParaRPr lang="en-US" sz="1400" dirty="0"/>
          </a:p>
        </p:txBody>
      </p:sp>
      <p:sp>
        <p:nvSpPr>
          <p:cNvPr id="14" name="Integrante Santino Peralta"/>
          <p:cNvSpPr txBox="1"/>
          <p:nvPr/>
        </p:nvSpPr>
        <p:spPr>
          <a:xfrm>
            <a:off x="4480560" y="3410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Santino Peralta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403430</a:t>
            </a:r>
            <a:endParaRPr lang="en-US" sz="1400" dirty="0"/>
          </a:p>
        </p:txBody>
      </p:sp>
      <p:sp>
        <p:nvSpPr>
          <p:cNvPr id="15" name="Integrante Camila Rodriguez"/>
          <p:cNvSpPr txBox="1"/>
          <p:nvPr/>
        </p:nvSpPr>
        <p:spPr>
          <a:xfrm>
            <a:off x="4480560" y="40142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Camila Rodriguez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400402</a:t>
            </a:r>
            <a:endParaRPr lang="en-US" sz="1400" dirty="0"/>
          </a:p>
        </p:txBody>
      </p:sp>
      <p:sp>
        <p:nvSpPr>
          <p:cNvPr id="16" name="Integrante Tomas San Felipe"/>
          <p:cNvSpPr txBox="1"/>
          <p:nvPr/>
        </p:nvSpPr>
        <p:spPr>
          <a:xfrm>
            <a:off x="448056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Tomas San Felipe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95609</a:t>
            </a:r>
            <a:endParaRPr lang="en-US" sz="1400" dirty="0"/>
          </a:p>
        </p:txBody>
      </p:sp>
      <p:sp>
        <p:nvSpPr>
          <p:cNvPr id="17" name="Integrante Catalina Zapata"/>
          <p:cNvSpPr txBox="1"/>
          <p:nvPr/>
        </p:nvSpPr>
        <p:spPr>
          <a:xfrm>
            <a:off x="4480560" y="522122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Catalina Zapata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400247</a:t>
            </a:r>
            <a:endParaRPr lang="en-US" sz="1400" dirty="0"/>
          </a:p>
        </p:txBody>
      </p:sp>
      <p:pic>
        <p:nvPicPr>
          <p:cNvPr id="18" name="Image 0" descr="Ciudad de empresas conectadas a la nu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2697480"/>
            <a:ext cx="3474720" cy="19545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upo 5 Canary">
  <a:themeElements>
    <a:clrScheme name="Grupo 5 Canary">
      <a:dk1>
        <a:srgbClr val="061428"/>
      </a:dk1>
      <a:lt1>
        <a:srgbClr val="FFFFFF"/>
      </a:lt1>
      <a:dk2>
        <a:srgbClr val="10264A"/>
      </a:dk2>
      <a:lt2>
        <a:srgbClr val="A3B4CC"/>
      </a:lt2>
      <a:accent1>
        <a:srgbClr val="FFC93C"/>
      </a:accent1>
      <a:accent2>
        <a:srgbClr val="2DD4BF"/>
      </a:accent2>
      <a:accent3>
        <a:srgbClr val="F2545B"/>
      </a:accent3>
      <a:accent4>
        <a:srgbClr val="6EA8FE"/>
      </a:accent4>
      <a:accent5>
        <a:srgbClr val="1C3760"/>
      </a:accent5>
      <a:accent6>
        <a:srgbClr val="7C8FA8"/>
      </a:accent6>
      <a:hlink>
        <a:srgbClr val="2DD4BF"/>
      </a:hlink>
      <a:folHlink>
        <a:srgbClr val="FFC93C"/>
      </a:folHlink>
    </a:clrScheme>
    <a:fontScheme name="Grupo 5 Canary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SaaS multi-tenant — Grupo 5</dc:title>
  <dc:subject>PptxGenJS Presentation</dc:subject>
  <dc:creator>Grupo 5</dc:creator>
  <cp:lastModifiedBy>Grupo 5</cp:lastModifiedBy>
  <cp:revision>1</cp:revision>
  <dcterms:created xsi:type="dcterms:W3CDTF">2026-10-30T21:57:57Z</dcterms:created>
  <dcterms:modified xsi:type="dcterms:W3CDTF">2026-10-30T21:57:57Z</dcterms:modified>
</cp:coreProperties>
</file>